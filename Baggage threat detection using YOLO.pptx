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9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2" r:id="rId17"/>
    <p:sldId id="273" r:id="rId18"/>
    <p:sldId id="271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CB087-A740-1C1B-CF8A-B7E465DF0E48}" v="2" dt="2025-04-04T21:04:17.018"/>
    <p1510:client id="{999AF8C9-EAD5-18A0-E6AC-35C19891AE2E}" v="502" dt="2025-04-04T19:14:26.581"/>
    <p1510:client id="{9FF01671-B5E3-6316-5E7C-9246C0F6D0C1}" v="616" dt="2025-04-04T20:11:50.288"/>
    <p1510:client id="{D833618B-CF6C-0A02-C66A-116E07A52E6A}" v="426" dt="2025-04-04T20:54:14.871"/>
    <p1510:client id="{FDDDF2E5-80FF-C7B6-C8F1-BAAE6FA1B634}" v="102" dt="2025-04-04T19:26:26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9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8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5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5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4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5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4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2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8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3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hanhbtq99/sixray" TargetMode="External"/><Relationship Id="rId2" Type="http://schemas.openxmlformats.org/officeDocument/2006/relationships/hyperlink" Target="https://universe.roboflow.com/khanhs/sixray-yg9ii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62033" y="1669619"/>
            <a:ext cx="6194518" cy="352597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ea typeface="+mj-lt"/>
                <a:cs typeface="+mj-lt"/>
              </a:rPr>
              <a:t>Baggage Threat Detection using YOLO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2033" y="3922117"/>
            <a:ext cx="5657899" cy="12689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A Deep Learning Approach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0A30D-B8A3-4F7A-6579-F30B014D3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4" r="15618" b="11"/>
          <a:stretch/>
        </p:blipFill>
        <p:spPr>
          <a:xfrm>
            <a:off x="20" y="10"/>
            <a:ext cx="5104813" cy="6857990"/>
          </a:xfrm>
          <a:custGeom>
            <a:avLst/>
            <a:gdLst/>
            <a:ahLst/>
            <a:cxnLst/>
            <a:rect l="l" t="t" r="r" b="b"/>
            <a:pathLst>
              <a:path w="5104833" h="6858000">
                <a:moveTo>
                  <a:pt x="0" y="0"/>
                </a:moveTo>
                <a:lnTo>
                  <a:pt x="3707702" y="0"/>
                </a:lnTo>
                <a:lnTo>
                  <a:pt x="3707702" y="1375489"/>
                </a:lnTo>
                <a:lnTo>
                  <a:pt x="5104833" y="1375489"/>
                </a:lnTo>
                <a:lnTo>
                  <a:pt x="51048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3CBB256-14CD-42AD-22C9-CCA80A341AF1}"/>
              </a:ext>
            </a:extLst>
          </p:cNvPr>
          <p:cNvSpPr txBox="1"/>
          <p:nvPr/>
        </p:nvSpPr>
        <p:spPr>
          <a:xfrm>
            <a:off x="8056211" y="6381421"/>
            <a:ext cx="413718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Presented by: Mohamed Hamdy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9E5FD-A34F-FFD3-7B20-C8B9696B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3765-AF32-AD79-4C87-E1E05FFAA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10066238" cy="3926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Detecting </a:t>
            </a:r>
            <a:r>
              <a:rPr lang="en-US" b="1"/>
              <a:t>potential threats</a:t>
            </a:r>
            <a:r>
              <a:rPr lang="en-US"/>
              <a:t> in baggage after scanning using X-ray</a:t>
            </a: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 Applying different versions of YOLO to </a:t>
            </a:r>
            <a:r>
              <a:rPr lang="en-US" b="1"/>
              <a:t>detect prohibited items</a:t>
            </a: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Deploying the models using </a:t>
            </a:r>
            <a:r>
              <a:rPr lang="en-US" err="1"/>
              <a:t>streamlit</a:t>
            </a:r>
            <a:r>
              <a:rPr lang="en-US"/>
              <a:t> to work on </a:t>
            </a:r>
            <a:r>
              <a:rPr lang="en-US" b="1"/>
              <a:t>real-world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6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8DB2-0E28-59F7-8411-920E80F1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What is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E5D1C-FE4F-0A92-D061-1E882AA7E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 b="1"/>
              <a:t>YOLO </a:t>
            </a:r>
            <a:r>
              <a:rPr lang="en-US"/>
              <a:t>stands for </a:t>
            </a:r>
            <a:r>
              <a:rPr lang="en-US" b="1"/>
              <a:t>You Only Look Once</a:t>
            </a:r>
          </a:p>
          <a:p>
            <a:endParaRPr lang="en-US" b="1"/>
          </a:p>
          <a:p>
            <a:r>
              <a:rPr lang="en-US" b="1"/>
              <a:t>YOLO </a:t>
            </a:r>
            <a:r>
              <a:rPr lang="en-US"/>
              <a:t>is a deep learning model used in</a:t>
            </a:r>
            <a:r>
              <a:rPr lang="en-US" b="1"/>
              <a:t> real-time object detection in computer vision</a:t>
            </a:r>
          </a:p>
          <a:p>
            <a:endParaRPr lang="en-US" b="1"/>
          </a:p>
          <a:p>
            <a:r>
              <a:rPr lang="en-US"/>
              <a:t>There are</a:t>
            </a:r>
            <a:r>
              <a:rPr lang="en-US" b="1"/>
              <a:t> different versions of YOLO </a:t>
            </a:r>
            <a:r>
              <a:rPr lang="en-US"/>
              <a:t>starting from YOLOv1 up to YOLOv12</a:t>
            </a:r>
          </a:p>
        </p:txBody>
      </p:sp>
    </p:spTree>
    <p:extLst>
      <p:ext uri="{BB962C8B-B14F-4D97-AF65-F5344CB8AC3E}">
        <p14:creationId xmlns:p14="http://schemas.microsoft.com/office/powerpoint/2010/main" val="152219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2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8433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CB67B-7513-B7EC-6CCC-794B40E2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247140"/>
            <a:ext cx="4386006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Dataset overview </a:t>
            </a:r>
          </a:p>
        </p:txBody>
      </p:sp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04FD1143-9CC9-1DD3-CF09-0E551575C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85" y="1776519"/>
            <a:ext cx="3370748" cy="337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2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0A6F-F548-2080-AE25-609F27AC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321497"/>
            <a:ext cx="9486690" cy="15504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AutoNum type="arabicPeriod"/>
            </a:pPr>
            <a:r>
              <a:rPr lang="en-US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3972-88D5-68F7-ED92-50C42F39B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142" y="2004153"/>
            <a:ext cx="10309303" cy="46102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Dataset Purpose</a:t>
            </a:r>
            <a:r>
              <a:rPr lang="en-US">
                <a:ea typeface="+mn-lt"/>
                <a:cs typeface="+mn-lt"/>
              </a:rPr>
              <a:t>: Contains images of baggage scanned using X-ray, including prohibited items, for an object detection project.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Dataset Split</a:t>
            </a:r>
            <a:r>
              <a:rPr lang="en-US">
                <a:ea typeface="+mn-lt"/>
                <a:cs typeface="+mn-lt"/>
              </a:rPr>
              <a:t>: Divided into </a:t>
            </a:r>
            <a:r>
              <a:rPr lang="en-US" b="1">
                <a:ea typeface="+mn-lt"/>
                <a:cs typeface="+mn-lt"/>
              </a:rPr>
              <a:t>train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b="1">
                <a:ea typeface="+mn-lt"/>
                <a:cs typeface="+mn-lt"/>
              </a:rPr>
              <a:t>test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b="1">
                <a:ea typeface="+mn-lt"/>
                <a:cs typeface="+mn-lt"/>
              </a:rPr>
              <a:t>validation</a:t>
            </a:r>
            <a:r>
              <a:rPr lang="en-US">
                <a:ea typeface="+mn-lt"/>
                <a:cs typeface="+mn-lt"/>
              </a:rPr>
              <a:t> sets.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Classes: </a:t>
            </a:r>
            <a:r>
              <a:rPr lang="en-US">
                <a:ea typeface="+mn-lt"/>
                <a:cs typeface="+mn-lt"/>
              </a:rPr>
              <a:t>Gun, Knife, Pliers, Scissors, Wrench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Folder Structure</a:t>
            </a:r>
            <a:r>
              <a:rPr lang="en-US">
                <a:ea typeface="+mn-lt"/>
                <a:cs typeface="+mn-lt"/>
              </a:rPr>
              <a:t>: Each set includes two folders:</a:t>
            </a:r>
          </a:p>
          <a:p>
            <a:pPr lvl="1"/>
            <a:r>
              <a:rPr lang="en-US" sz="2200" b="1">
                <a:ea typeface="+mn-lt"/>
                <a:cs typeface="+mn-lt"/>
              </a:rPr>
              <a:t>Images</a:t>
            </a:r>
            <a:r>
              <a:rPr lang="en-US" sz="2200">
                <a:ea typeface="+mn-lt"/>
                <a:cs typeface="+mn-lt"/>
              </a:rPr>
              <a:t>: X-ray scans of baggage.</a:t>
            </a:r>
          </a:p>
          <a:p>
            <a:pPr lvl="1"/>
            <a:r>
              <a:rPr lang="en-US" sz="2200" b="1">
                <a:ea typeface="+mn-lt"/>
                <a:cs typeface="+mn-lt"/>
              </a:rPr>
              <a:t>Labels</a:t>
            </a:r>
            <a:r>
              <a:rPr lang="en-US" sz="2200">
                <a:ea typeface="+mn-lt"/>
                <a:cs typeface="+mn-lt"/>
              </a:rPr>
              <a:t>: Annotations for object detection (bounding boxes and class labels for prohibited items).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2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8B8C-0D0C-AF34-26BF-A4A2599F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872" y="22876"/>
            <a:ext cx="9486690" cy="1550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2. Dataset Distribution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B21FDD3C-08C3-4F0D-1B1D-52909BCB6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667" y="1573070"/>
            <a:ext cx="10290585" cy="5007367"/>
          </a:xfrm>
        </p:spPr>
      </p:pic>
    </p:spTree>
    <p:extLst>
      <p:ext uri="{BB962C8B-B14F-4D97-AF65-F5344CB8AC3E}">
        <p14:creationId xmlns:p14="http://schemas.microsoft.com/office/powerpoint/2010/main" val="271069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5BFC40-DBE4-DB9B-9F35-D945F8CEC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486" y="923563"/>
            <a:ext cx="8591213" cy="5004453"/>
          </a:xfrm>
        </p:spPr>
      </p:pic>
    </p:spTree>
    <p:extLst>
      <p:ext uri="{BB962C8B-B14F-4D97-AF65-F5344CB8AC3E}">
        <p14:creationId xmlns:p14="http://schemas.microsoft.com/office/powerpoint/2010/main" val="171368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7A7F-9DBC-857E-53AD-65580751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3. Dataset sample </a:t>
            </a:r>
            <a:endParaRPr lang="en-US" b="0">
              <a:ea typeface="+mj-lt"/>
              <a:cs typeface="+mj-lt"/>
            </a:endParaRPr>
          </a:p>
        </p:txBody>
      </p:sp>
      <p:pic>
        <p:nvPicPr>
          <p:cNvPr id="7" name="Content Placeholder 6" descr="A x-ray of a suitcase&#10;&#10;AI-generated content may be incorrect.">
            <a:extLst>
              <a:ext uri="{FF2B5EF4-FFF2-40B4-BE49-F238E27FC236}">
                <a16:creationId xmlns:a16="http://schemas.microsoft.com/office/drawing/2014/main" id="{2AF1FD30-0EF3-9B03-FAA8-5DC3EEA82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953" y="2201205"/>
            <a:ext cx="4123556" cy="3926152"/>
          </a:xfrm>
        </p:spPr>
      </p:pic>
      <p:pic>
        <p:nvPicPr>
          <p:cNvPr id="8" name="Picture 7" descr="A close-up of a tool box&#10;&#10;AI-generated content may be incorrect.">
            <a:extLst>
              <a:ext uri="{FF2B5EF4-FFF2-40B4-BE49-F238E27FC236}">
                <a16:creationId xmlns:a16="http://schemas.microsoft.com/office/drawing/2014/main" id="{026C3207-EEE6-6DEF-C571-FD958A95F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249" y="2202077"/>
            <a:ext cx="4279557" cy="392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045A-75AE-53E9-1020-9677FB34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4. OOD (Out-of-Distribution)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2A720-11C0-AF35-8BAC-E671D5A7A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</a:t>
            </a:r>
            <a:r>
              <a:rPr lang="en-US">
                <a:ea typeface="+mn-lt"/>
                <a:cs typeface="+mn-lt"/>
              </a:rPr>
              <a:t>: collection of data that is </a:t>
            </a:r>
            <a:r>
              <a:rPr lang="en-US" b="1">
                <a:ea typeface="+mn-lt"/>
                <a:cs typeface="+mn-lt"/>
              </a:rPr>
              <a:t>different from the data used to train the model</a:t>
            </a:r>
            <a:endParaRPr lang="en-US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Source</a:t>
            </a:r>
            <a:r>
              <a:rPr lang="en-US">
                <a:ea typeface="+mn-lt"/>
                <a:cs typeface="+mn-lt"/>
              </a:rPr>
              <a:t>: Collected from diverse online sources to simulate real-world baggage X-ray scans</a:t>
            </a:r>
          </a:p>
          <a:p>
            <a:endParaRPr lang="en-US"/>
          </a:p>
          <a:p>
            <a:r>
              <a:rPr lang="en-US" b="1"/>
              <a:t>Purpose</a:t>
            </a:r>
            <a:r>
              <a:rPr lang="en-US"/>
              <a:t>: OOD images show how well the model performs on unseen data, so evaluate</a:t>
            </a:r>
            <a:r>
              <a:rPr lang="en-US">
                <a:ea typeface="+mn-lt"/>
                <a:cs typeface="+mn-lt"/>
              </a:rPr>
              <a:t> its generalization to </a:t>
            </a:r>
            <a:r>
              <a:rPr lang="en-US" b="1">
                <a:ea typeface="+mn-lt"/>
                <a:cs typeface="+mn-lt"/>
              </a:rPr>
              <a:t>real-world scenarios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4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1F5A-F106-544D-6AF6-655D8D98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5. OOD Dataset sample</a:t>
            </a:r>
          </a:p>
        </p:txBody>
      </p:sp>
      <p:pic>
        <p:nvPicPr>
          <p:cNvPr id="4" name="Content Placeholder 3" descr="A transparent bag with an object inside&#10;&#10;AI-generated content may be incorrect.">
            <a:extLst>
              <a:ext uri="{FF2B5EF4-FFF2-40B4-BE49-F238E27FC236}">
                <a16:creationId xmlns:a16="http://schemas.microsoft.com/office/drawing/2014/main" id="{64723A3E-7B2E-2029-CF3C-4A0E9F780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628" y="2213678"/>
            <a:ext cx="4247136" cy="3926152"/>
          </a:xfrm>
        </p:spPr>
      </p:pic>
      <p:pic>
        <p:nvPicPr>
          <p:cNvPr id="5" name="Picture 4" descr="A x-ray of a suitcase&#10;&#10;AI-generated content may be incorrect.">
            <a:extLst>
              <a:ext uri="{FF2B5EF4-FFF2-40B4-BE49-F238E27FC236}">
                <a16:creationId xmlns:a16="http://schemas.microsoft.com/office/drawing/2014/main" id="{6C3237C7-C2D5-A08A-6ED6-87F767CE8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805" y="2210873"/>
            <a:ext cx="4503262" cy="39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9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1DE6-44AF-A235-6B0A-984D3E9C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6. Dataset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CC1D-C260-5838-A3B6-E1EFFABCB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 b="1" err="1"/>
              <a:t>Sixray</a:t>
            </a:r>
            <a:r>
              <a:rPr lang="en-US" b="1"/>
              <a:t> dataset</a:t>
            </a:r>
            <a:r>
              <a:rPr lang="en-US"/>
              <a:t>: </a:t>
            </a:r>
            <a:r>
              <a:rPr lang="en-US">
                <a:ea typeface="+mn-lt"/>
                <a:cs typeface="+mn-lt"/>
                <a:hlinkClick r:id="rId2"/>
              </a:rPr>
              <a:t>https://universe.roboflow.com/khanhs/sixray-yg9ii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/>
              <a:t>Augmented </a:t>
            </a:r>
            <a:r>
              <a:rPr lang="en-US" err="1"/>
              <a:t>sixray</a:t>
            </a:r>
            <a:r>
              <a:rPr lang="en-US"/>
              <a:t> dataset: </a:t>
            </a:r>
            <a:r>
              <a:rPr lang="en-US">
                <a:ea typeface="+mn-lt"/>
                <a:cs typeface="+mn-lt"/>
                <a:hlinkClick r:id="rId3"/>
              </a:rPr>
              <a:t>https://www.kaggle.com/datasets/khanhbtq99/sixray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/>
              <a:t>OOD dataset: </a:t>
            </a:r>
            <a:r>
              <a:rPr lang="en-US">
                <a:ea typeface="+mn-lt"/>
                <a:cs typeface="+mn-lt"/>
              </a:rPr>
              <a:t>https://www.kaggle.com/datasets/mohammedhamdyy/bag-threats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90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1148B8-58D0-4E9A-A32C-B3B181A3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91982-C544-4B1F-6A69-0C3DD7BB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070" y="1714172"/>
            <a:ext cx="6458614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YOLO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8154F5-2E4B-4EB4-9BE5-A38ED1238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5"/>
            <a:ext cx="4067325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217F6F-016A-42CB-9074-E8CBC6CC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747133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1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7D15-D30D-D85F-B2A2-02B18E39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000" y="1082168"/>
            <a:ext cx="9486690" cy="1550419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/>
              <a:t>Model definition and hyperparameters selection</a:t>
            </a:r>
          </a:p>
        </p:txBody>
      </p:sp>
      <p:pic>
        <p:nvPicPr>
          <p:cNvPr id="4" name="Content Placeholder 3" descr="A white background with red text&#10;&#10;AI-generated content may be incorrect.">
            <a:extLst>
              <a:ext uri="{FF2B5EF4-FFF2-40B4-BE49-F238E27FC236}">
                <a16:creationId xmlns:a16="http://schemas.microsoft.com/office/drawing/2014/main" id="{ED1AA751-9216-5729-7C30-4D48627E5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713" y="3558827"/>
            <a:ext cx="10270945" cy="1341785"/>
          </a:xfrm>
        </p:spPr>
      </p:pic>
    </p:spTree>
    <p:extLst>
      <p:ext uri="{BB962C8B-B14F-4D97-AF65-F5344CB8AC3E}">
        <p14:creationId xmlns:p14="http://schemas.microsoft.com/office/powerpoint/2010/main" val="166074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3A52-348D-2475-C724-DB0A1F55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516" y="652007"/>
            <a:ext cx="9486690" cy="1550419"/>
          </a:xfrm>
        </p:spPr>
        <p:txBody>
          <a:bodyPr/>
          <a:lstStyle/>
          <a:p>
            <a:r>
              <a:rPr lang="en-US"/>
              <a:t>2. Model's performance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F42D4E-9460-7A0C-622A-5A8663380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064" y="2206523"/>
            <a:ext cx="9929142" cy="3648782"/>
          </a:xfrm>
        </p:spPr>
      </p:pic>
    </p:spTree>
    <p:extLst>
      <p:ext uri="{BB962C8B-B14F-4D97-AF65-F5344CB8AC3E}">
        <p14:creationId xmlns:p14="http://schemas.microsoft.com/office/powerpoint/2010/main" val="318540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B7ECD882-B03D-A869-CFB3-58D1E084C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433" y="391602"/>
            <a:ext cx="9566224" cy="5694566"/>
          </a:xfrm>
        </p:spPr>
      </p:pic>
    </p:spTree>
    <p:extLst>
      <p:ext uri="{BB962C8B-B14F-4D97-AF65-F5344CB8AC3E}">
        <p14:creationId xmlns:p14="http://schemas.microsoft.com/office/powerpoint/2010/main" val="371809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C68DE4F6-28EE-ECF6-4355-743251BD3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514" y="636016"/>
            <a:ext cx="8819564" cy="5597635"/>
          </a:xfrm>
        </p:spPr>
      </p:pic>
    </p:spTree>
    <p:extLst>
      <p:ext uri="{BB962C8B-B14F-4D97-AF65-F5344CB8AC3E}">
        <p14:creationId xmlns:p14="http://schemas.microsoft.com/office/powerpoint/2010/main" val="851880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53D09687-A3D1-7211-4AB3-41F059741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801" y="664771"/>
            <a:ext cx="8786131" cy="5536415"/>
          </a:xfrm>
        </p:spPr>
      </p:pic>
    </p:spTree>
    <p:extLst>
      <p:ext uri="{BB962C8B-B14F-4D97-AF65-F5344CB8AC3E}">
        <p14:creationId xmlns:p14="http://schemas.microsoft.com/office/powerpoint/2010/main" val="2810637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16D7801B-8284-6C19-A4C0-92927B9C7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822" y="664771"/>
            <a:ext cx="8693183" cy="5522038"/>
          </a:xfrm>
        </p:spPr>
      </p:pic>
    </p:spTree>
    <p:extLst>
      <p:ext uri="{BB962C8B-B14F-4D97-AF65-F5344CB8AC3E}">
        <p14:creationId xmlns:p14="http://schemas.microsoft.com/office/powerpoint/2010/main" val="2860811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DCF1-8313-5A0E-7555-385D9977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3. Model deployment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A7AC1A-DC54-0586-F6D1-BF926D08C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144" y="1843714"/>
            <a:ext cx="8556160" cy="4673774"/>
          </a:xfrm>
        </p:spPr>
      </p:pic>
    </p:spTree>
    <p:extLst>
      <p:ext uri="{BB962C8B-B14F-4D97-AF65-F5344CB8AC3E}">
        <p14:creationId xmlns:p14="http://schemas.microsoft.com/office/powerpoint/2010/main" val="2250011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3753-5450-C3D0-56D6-D41A956E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3DAD-8EFD-7DF4-0AC3-371665C2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 b="1"/>
              <a:t>Notebooks</a:t>
            </a:r>
            <a:r>
              <a:rPr lang="en-US"/>
              <a:t>: </a:t>
            </a:r>
            <a:r>
              <a:rPr lang="en-US">
                <a:ea typeface="+mn-lt"/>
                <a:cs typeface="+mn-lt"/>
              </a:rPr>
              <a:t>https://github.com/ayamotawea/Baggage-Threat-Detection-using-X-ray/tree/main</a:t>
            </a:r>
            <a:endParaRPr lang="en-US"/>
          </a:p>
          <a:p>
            <a:endParaRPr lang="en-US"/>
          </a:p>
          <a:p>
            <a:r>
              <a:rPr lang="en-US" b="1" err="1"/>
              <a:t>Streamlit</a:t>
            </a:r>
            <a:r>
              <a:rPr lang="en-US" b="1"/>
              <a:t> application</a:t>
            </a:r>
            <a:r>
              <a:rPr lang="en-US"/>
              <a:t>:  </a:t>
            </a:r>
            <a:r>
              <a:rPr lang="en-US">
                <a:ea typeface="+mn-lt"/>
                <a:cs typeface="+mn-lt"/>
              </a:rPr>
              <a:t>https://baggage-threat-detection-using-x-ray-9qljxz4khyyyk5fgfwx2dt.streamlit.app/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319632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715C-E901-84CC-4821-AAB4CE31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671605"/>
            <a:ext cx="9486690" cy="1550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err="1"/>
              <a:t>NexaAI</a:t>
            </a:r>
            <a:r>
              <a:rPr lang="en-US"/>
              <a:t> 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9E04-D0D1-1907-0A61-284171BDE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005557"/>
            <a:ext cx="9486690" cy="3926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pPr marL="457200" indent="-457200">
              <a:buAutoNum type="arabicPeriod"/>
            </a:pPr>
            <a:r>
              <a:rPr lang="en-US" sz="2400"/>
              <a:t>Mohamed </a:t>
            </a:r>
            <a:r>
              <a:rPr lang="en-US" sz="2400" err="1"/>
              <a:t>Shorky</a:t>
            </a:r>
            <a:r>
              <a:rPr lang="en-US" sz="2400"/>
              <a:t> Raslan </a:t>
            </a:r>
          </a:p>
          <a:p>
            <a:pPr marL="457200" indent="-457200">
              <a:buAutoNum type="arabicPeriod"/>
            </a:pPr>
            <a:r>
              <a:rPr lang="en-US" sz="2400"/>
              <a:t>Aya </a:t>
            </a:r>
            <a:r>
              <a:rPr lang="en-US" sz="2400" err="1"/>
              <a:t>Motawea</a:t>
            </a:r>
            <a:endParaRPr lang="en-US" sz="2400"/>
          </a:p>
          <a:p>
            <a:pPr marL="457200" indent="-457200">
              <a:buAutoNum type="arabicPeriod"/>
            </a:pPr>
            <a:r>
              <a:rPr lang="en-US" sz="2400"/>
              <a:t>Mohamed Hamdy Zaki</a:t>
            </a:r>
          </a:p>
          <a:p>
            <a:pPr marL="457200" indent="-457200">
              <a:buAutoNum type="arabicPeriod"/>
            </a:pPr>
            <a:r>
              <a:rPr lang="en-US" sz="2400"/>
              <a:t>Nora Mohammed Abdel Halim</a:t>
            </a:r>
          </a:p>
          <a:p>
            <a:pPr marL="457200" indent="-457200">
              <a:buAutoNum type="arabicPeriod"/>
            </a:pPr>
            <a:r>
              <a:rPr lang="en-US" sz="2400"/>
              <a:t>Shimaa Kamal Mohamed Nasr</a:t>
            </a:r>
          </a:p>
        </p:txBody>
      </p:sp>
    </p:spTree>
    <p:extLst>
      <p:ext uri="{BB962C8B-B14F-4D97-AF65-F5344CB8AC3E}">
        <p14:creationId xmlns:p14="http://schemas.microsoft.com/office/powerpoint/2010/main" val="3643117104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InterweaveVTI</vt:lpstr>
      <vt:lpstr>Baggage Threat Detection using YOLO</vt:lpstr>
      <vt:lpstr>Project objectives</vt:lpstr>
      <vt:lpstr>What is YOLO</vt:lpstr>
      <vt:lpstr>Dataset overview </vt:lpstr>
      <vt:lpstr>Dataset description</vt:lpstr>
      <vt:lpstr>2. Dataset Distribution</vt:lpstr>
      <vt:lpstr>PowerPoint Presentation</vt:lpstr>
      <vt:lpstr>3. Dataset sample </vt:lpstr>
      <vt:lpstr>4. OOD (Out-of-Distribution) Dataset</vt:lpstr>
      <vt:lpstr>5. OOD Dataset sample</vt:lpstr>
      <vt:lpstr>6. Dataset links</vt:lpstr>
      <vt:lpstr>YOLO Model</vt:lpstr>
      <vt:lpstr>Model definition and hyperparameters selection</vt:lpstr>
      <vt:lpstr>2. Model's performance</vt:lpstr>
      <vt:lpstr>PowerPoint Presentation</vt:lpstr>
      <vt:lpstr>PowerPoint Presentation</vt:lpstr>
      <vt:lpstr>PowerPoint Presentation</vt:lpstr>
      <vt:lpstr>PowerPoint Presentation</vt:lpstr>
      <vt:lpstr>3. Model deployment </vt:lpstr>
      <vt:lpstr>4. Links</vt:lpstr>
      <vt:lpstr>NexaAI Team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2025-04-04T18:45:05Z</dcterms:created>
  <dcterms:modified xsi:type="dcterms:W3CDTF">2025-04-04T21:05:23Z</dcterms:modified>
</cp:coreProperties>
</file>